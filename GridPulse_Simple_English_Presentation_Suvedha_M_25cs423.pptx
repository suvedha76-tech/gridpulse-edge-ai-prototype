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51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05156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E7ECF3"/>
                </a:solidFill>
                <a:latin typeface="Aptos"/>
              </a:rPr>
              <a:t>GridPulse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830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8B97AC"/>
                </a:solidFill>
                <a:latin typeface="Aptos"/>
              </a:rPr>
              <a:t>Edge AI Based Load Forecasting for Distribution Substations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2743200"/>
            <a:ext cx="5806440" cy="1920240"/>
          </a:xfrm>
          <a:prstGeom prst="roundRect">
            <a:avLst/>
          </a:prstGeom>
          <a:solidFill>
            <a:srgbClr val="0F1826"/>
          </a:solidFill>
          <a:ln>
            <a:solidFill>
              <a:srgbClr val="22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474720" y="3063240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dirty="0">
                <a:solidFill>
                  <a:srgbClr val="E08D3C"/>
                </a:solidFill>
                <a:latin typeface="Aptos"/>
              </a:rPr>
              <a:t>PPT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3566160"/>
            <a:ext cx="525780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dirty="0">
                <a:solidFill>
                  <a:schemeClr val="bg2"/>
                </a:solidFill>
                <a:latin typeface="Aptos"/>
              </a:rPr>
              <a:t>Name: </a:t>
            </a:r>
            <a:r>
              <a:rPr sz="1700" b="0" dirty="0" err="1">
                <a:solidFill>
                  <a:schemeClr val="bg2"/>
                </a:solidFill>
                <a:latin typeface="Aptos"/>
              </a:rPr>
              <a:t>Suvedha.M</a:t>
            </a:r>
            <a:br>
              <a:rPr dirty="0">
                <a:solidFill>
                  <a:schemeClr val="bg2"/>
                </a:solidFill>
              </a:rPr>
            </a:br>
            <a:r>
              <a:rPr dirty="0" err="1">
                <a:solidFill>
                  <a:schemeClr val="bg2"/>
                </a:solidFill>
              </a:rPr>
              <a:t>RegNo</a:t>
            </a:r>
            <a:r>
              <a:rPr dirty="0">
                <a:solidFill>
                  <a:schemeClr val="bg2"/>
                </a:solidFill>
              </a:rPr>
              <a:t>: 25cs423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16636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B97AC"/>
                </a:solidFill>
                <a:latin typeface="Aptos"/>
              </a:rPr>
              <a:t>Problem • Objective • Algorithm • Advantages •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7AC"/>
                </a:solidFill>
                <a:latin typeface="Aptos"/>
              </a:rPr>
              <a:t>Suvedha.M  |  RegNo: 25cs423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B97AC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E7ECF3"/>
                </a:solidFill>
                <a:latin typeface="Aptos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418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7AC"/>
                </a:solidFill>
                <a:latin typeface="Aptos"/>
              </a:rPr>
              <a:t>Why do we need this system?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5394960" cy="4526280"/>
          </a:xfrm>
          <a:prstGeom prst="roundRect">
            <a:avLst/>
          </a:prstGeom>
          <a:solidFill>
            <a:srgbClr val="0F1826"/>
          </a:solidFill>
          <a:ln>
            <a:solidFill>
              <a:srgbClr val="22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58191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7ECF3"/>
                </a:solidFill>
                <a:latin typeface="Aptos"/>
              </a:rPr>
              <a:t>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74519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E7ECF3"/>
                </a:solidFill>
                <a:latin typeface="Aptos"/>
              </a:defRPr>
            </a:pPr>
            <a:r>
              <a:t>• Electricity load keeps changing at distribution substations.</a:t>
            </a:r>
          </a:p>
          <a:p>
            <a:pPr>
              <a:spcAft>
                <a:spcPts val="1000"/>
              </a:spcAft>
              <a:defRPr sz="1600">
                <a:solidFill>
                  <a:srgbClr val="E7ECF3"/>
                </a:solidFill>
                <a:latin typeface="Aptos"/>
              </a:defRPr>
            </a:pPr>
            <a:r>
              <a:t>• Sudden load increases can be difficult to identify quickly.</a:t>
            </a:r>
          </a:p>
          <a:p>
            <a:pPr>
              <a:spcAft>
                <a:spcPts val="1000"/>
              </a:spcAft>
              <a:defRPr sz="1600">
                <a:solidFill>
                  <a:srgbClr val="E7ECF3"/>
                </a:solidFill>
                <a:latin typeface="Aptos"/>
              </a:defRPr>
            </a:pPr>
            <a:r>
              <a:t>• Sending data to the cloud can add communication delay.</a:t>
            </a:r>
          </a:p>
          <a:p>
            <a:pPr>
              <a:spcAft>
                <a:spcPts val="1000"/>
              </a:spcAft>
              <a:defRPr sz="1600">
                <a:solidFill>
                  <a:srgbClr val="E7ECF3"/>
                </a:solidFill>
                <a:latin typeface="Aptos"/>
              </a:defRPr>
            </a:pPr>
            <a:r>
              <a:t>• A faster local prediction is useful for quick monitoring and response.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349240" cy="4526280"/>
          </a:xfrm>
          <a:prstGeom prst="roundRect">
            <a:avLst/>
          </a:prstGeom>
          <a:solidFill>
            <a:srgbClr val="0F1826"/>
          </a:solidFill>
          <a:ln>
            <a:solidFill>
              <a:srgbClr val="22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58191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7ECF3"/>
                </a:solidFill>
                <a:latin typeface="Aptos"/>
              </a:rPr>
              <a:t>Existing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874519"/>
            <a:ext cx="46634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E7ECF3"/>
                </a:solidFill>
                <a:latin typeface="Aptos"/>
              </a:defRPr>
            </a:pPr>
            <a:r>
              <a:t>• Continuous load data needs to be monitored.</a:t>
            </a:r>
          </a:p>
          <a:p>
            <a:pPr>
              <a:spcAft>
                <a:spcPts val="1000"/>
              </a:spcAft>
              <a:defRPr sz="1600">
                <a:solidFill>
                  <a:srgbClr val="E7ECF3"/>
                </a:solidFill>
                <a:latin typeface="Aptos"/>
              </a:defRPr>
            </a:pPr>
            <a:r>
              <a:t>• The system should predict the next load value.</a:t>
            </a:r>
          </a:p>
          <a:p>
            <a:pPr>
              <a:spcAft>
                <a:spcPts val="1000"/>
              </a:spcAft>
              <a:defRPr sz="1600">
                <a:solidFill>
                  <a:srgbClr val="E7ECF3"/>
                </a:solidFill>
                <a:latin typeface="Aptos"/>
              </a:defRPr>
            </a:pPr>
            <a:r>
              <a:t>• Unusual load changes should be detected.</a:t>
            </a:r>
          </a:p>
          <a:p>
            <a:pPr>
              <a:spcAft>
                <a:spcPts val="1000"/>
              </a:spcAft>
              <a:defRPr sz="1600">
                <a:solidFill>
                  <a:srgbClr val="E7ECF3"/>
                </a:solidFill>
                <a:latin typeface="Aptos"/>
              </a:defRPr>
            </a:pPr>
            <a:r>
              <a:t>• The prototype should show the result clearly in a dashboard.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7AC"/>
                </a:solidFill>
                <a:latin typeface="Aptos"/>
              </a:rPr>
              <a:t>Suvedha.M  |  RegNo: 25cs423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B97AC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E7ECF3"/>
                </a:solidFill>
                <a:latin typeface="Aptos"/>
              </a:rP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418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7AC"/>
                </a:solidFill>
                <a:latin typeface="Aptos"/>
              </a:rPr>
              <a:t>What are we trying to achieve?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10972800" cy="4526280"/>
          </a:xfrm>
          <a:prstGeom prst="roundRect">
            <a:avLst/>
          </a:prstGeom>
          <a:solidFill>
            <a:srgbClr val="0F1826"/>
          </a:solidFill>
          <a:ln>
            <a:solidFill>
              <a:srgbClr val="22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14400" y="1828800"/>
            <a:ext cx="548640" cy="548640"/>
          </a:xfrm>
          <a:prstGeom prst="ellipse">
            <a:avLst/>
          </a:prstGeom>
          <a:solidFill>
            <a:srgbClr val="E08D3C"/>
          </a:solidFill>
          <a:ln>
            <a:solidFill>
              <a:srgbClr val="E08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4984" y="1929384"/>
            <a:ext cx="3474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A0F1A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8105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7ECF3"/>
                </a:solidFill>
                <a:latin typeface="Aptos"/>
              </a:rPr>
              <a:t>Predict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810512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7AC"/>
                </a:solidFill>
                <a:latin typeface="Aptos"/>
              </a:rPr>
              <a:t>Predict the next electricity load using recent load values.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606040"/>
            <a:ext cx="548640" cy="548640"/>
          </a:xfrm>
          <a:prstGeom prst="ellipse">
            <a:avLst/>
          </a:prstGeom>
          <a:solidFill>
            <a:srgbClr val="E08D3C"/>
          </a:solidFill>
          <a:ln>
            <a:solidFill>
              <a:srgbClr val="E08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14984" y="2706624"/>
            <a:ext cx="3474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A0F1A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5877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7ECF3"/>
                </a:solidFill>
                <a:latin typeface="Aptos"/>
              </a:rPr>
              <a:t>Monitor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587752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7AC"/>
                </a:solidFill>
                <a:latin typeface="Aptos"/>
              </a:rPr>
              <a:t>Monitor multiple distribution substations through one dashboard.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383280"/>
            <a:ext cx="548640" cy="548640"/>
          </a:xfrm>
          <a:prstGeom prst="ellipse">
            <a:avLst/>
          </a:prstGeom>
          <a:solidFill>
            <a:srgbClr val="E08D3C"/>
          </a:solidFill>
          <a:ln>
            <a:solidFill>
              <a:srgbClr val="E08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14984" y="3483864"/>
            <a:ext cx="3474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A0F1A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3649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7ECF3"/>
                </a:solidFill>
                <a:latin typeface="Aptos"/>
              </a:rPr>
              <a:t>Detect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3364992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7AC"/>
                </a:solidFill>
                <a:latin typeface="Aptos"/>
              </a:rPr>
              <a:t>Detect sudden load changes and mark them as anomalies.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4160520"/>
            <a:ext cx="548640" cy="548640"/>
          </a:xfrm>
          <a:prstGeom prst="ellipse">
            <a:avLst/>
          </a:prstGeom>
          <a:solidFill>
            <a:srgbClr val="E08D3C"/>
          </a:solidFill>
          <a:ln>
            <a:solidFill>
              <a:srgbClr val="E08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14984" y="4261104"/>
            <a:ext cx="3474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A0F1A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1422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7ECF3"/>
                </a:solidFill>
                <a:latin typeface="Aptos"/>
              </a:rPr>
              <a:t>Process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4142232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7AC"/>
                </a:solidFill>
                <a:latin typeface="Aptos"/>
              </a:rPr>
              <a:t>Perform forecasting locally at the edge.</a:t>
            </a:r>
          </a:p>
        </p:txBody>
      </p:sp>
      <p:sp>
        <p:nvSpPr>
          <p:cNvPr id="21" name="Oval 20"/>
          <p:cNvSpPr/>
          <p:nvPr/>
        </p:nvSpPr>
        <p:spPr>
          <a:xfrm>
            <a:off x="914400" y="4937759"/>
            <a:ext cx="548640" cy="548640"/>
          </a:xfrm>
          <a:prstGeom prst="ellipse">
            <a:avLst/>
          </a:prstGeom>
          <a:solidFill>
            <a:srgbClr val="E08D3C"/>
          </a:solidFill>
          <a:ln>
            <a:solidFill>
              <a:srgbClr val="E08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14984" y="5038344"/>
            <a:ext cx="3474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A0F1A"/>
                </a:solidFill>
                <a:latin typeface="Apto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49194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7ECF3"/>
                </a:solidFill>
                <a:latin typeface="Aptos"/>
              </a:rPr>
              <a:t>Compare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4919472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7AC"/>
                </a:solidFill>
                <a:latin typeface="Aptos"/>
              </a:rPr>
              <a:t>Show the latency difference between edge and cloud processing.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7395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7AC"/>
                </a:solidFill>
                <a:latin typeface="Aptos"/>
              </a:rPr>
              <a:t>Suvedha.M  |  RegNo: 25cs423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B97AC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E7ECF3"/>
                </a:solidFill>
                <a:latin typeface="Aptos"/>
              </a:rPr>
              <a:t>What is a Substation in Our Prototype?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418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7AC"/>
                </a:solidFill>
                <a:latin typeface="Aptos"/>
              </a:rPr>
              <a:t>A substation is represented as a grid node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5394960" cy="4526280"/>
          </a:xfrm>
          <a:prstGeom prst="roundRect">
            <a:avLst/>
          </a:prstGeom>
          <a:solidFill>
            <a:srgbClr val="0F1826"/>
          </a:solidFill>
          <a:ln>
            <a:solidFill>
              <a:srgbClr val="22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58191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7ECF3"/>
                </a:solidFill>
                <a:latin typeface="Aptos"/>
              </a:rPr>
              <a:t>In GridPulse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74519"/>
            <a:ext cx="4754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E7ECF3"/>
                </a:solidFill>
                <a:latin typeface="Aptos"/>
              </a:defRPr>
            </a:pPr>
            <a:r>
              <a:t>• A substation is a node where electricity load is monitored.</a:t>
            </a:r>
          </a:p>
          <a:p>
            <a:pPr>
              <a:spcAft>
                <a:spcPts val="1000"/>
              </a:spcAft>
              <a:defRPr sz="1600">
                <a:solidFill>
                  <a:srgbClr val="E7ECF3"/>
                </a:solidFill>
                <a:latin typeface="Aptos"/>
              </a:defRPr>
            </a:pPr>
            <a:r>
              <a:t>• Each node has its own load pattern.</a:t>
            </a:r>
          </a:p>
          <a:p>
            <a:pPr>
              <a:spcAft>
                <a:spcPts val="1000"/>
              </a:spcAft>
              <a:defRPr sz="1600">
                <a:solidFill>
                  <a:srgbClr val="E7ECF3"/>
                </a:solidFill>
                <a:latin typeface="Aptos"/>
              </a:defRPr>
            </a:pPr>
            <a:r>
              <a:t>• The prototype contains five nodes.</a:t>
            </a:r>
          </a:p>
          <a:p>
            <a:pPr>
              <a:spcAft>
                <a:spcPts val="1000"/>
              </a:spcAft>
              <a:defRPr sz="1600">
                <a:solidFill>
                  <a:srgbClr val="E7ECF3"/>
                </a:solidFill>
                <a:latin typeface="Aptos"/>
              </a:defRPr>
            </a:pPr>
            <a:r>
              <a:t>• Four are feeder substations and one is the Central Yard hub.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349240" cy="4526280"/>
          </a:xfrm>
          <a:prstGeom prst="roundRect">
            <a:avLst/>
          </a:prstGeom>
          <a:solidFill>
            <a:srgbClr val="0F1826"/>
          </a:solidFill>
          <a:ln>
            <a:solidFill>
              <a:srgbClr val="22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58191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7ECF3"/>
                </a:solidFill>
                <a:latin typeface="Aptos"/>
              </a:rPr>
              <a:t>Example Nodes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874519"/>
            <a:ext cx="466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E7ECF3"/>
                </a:solidFill>
                <a:latin typeface="Aptos"/>
              </a:defRPr>
            </a:pPr>
            <a:r>
              <a:t>• A – Riverside: Residential feeder</a:t>
            </a:r>
          </a:p>
          <a:p>
            <a:pPr>
              <a:spcAft>
                <a:spcPts val="1000"/>
              </a:spcAft>
              <a:defRPr sz="1500">
                <a:solidFill>
                  <a:srgbClr val="E7ECF3"/>
                </a:solidFill>
                <a:latin typeface="Aptos"/>
              </a:defRPr>
            </a:pPr>
            <a:r>
              <a:t>• B – Foundry District: Industrial feeder</a:t>
            </a:r>
          </a:p>
          <a:p>
            <a:pPr>
              <a:spcAft>
                <a:spcPts val="1000"/>
              </a:spcAft>
              <a:defRPr sz="1500">
                <a:solidFill>
                  <a:srgbClr val="E7ECF3"/>
                </a:solidFill>
                <a:latin typeface="Aptos"/>
              </a:defRPr>
            </a:pPr>
            <a:r>
              <a:t>• C – Harbor Point: Mixed-use feeder</a:t>
            </a:r>
          </a:p>
          <a:p>
            <a:pPr>
              <a:spcAft>
                <a:spcPts val="1000"/>
              </a:spcAft>
              <a:defRPr sz="1500">
                <a:solidFill>
                  <a:srgbClr val="E7ECF3"/>
                </a:solidFill>
                <a:latin typeface="Aptos"/>
              </a:defRPr>
            </a:pPr>
            <a:r>
              <a:t>• D – Uplands: Residential feeder</a:t>
            </a:r>
          </a:p>
          <a:p>
            <a:pPr>
              <a:spcAft>
                <a:spcPts val="1000"/>
              </a:spcAft>
              <a:defRPr sz="1500">
                <a:solidFill>
                  <a:srgbClr val="E7ECF3"/>
                </a:solidFill>
                <a:latin typeface="Aptos"/>
              </a:defRPr>
            </a:pPr>
            <a:r>
              <a:t>• E – Central Yard: Municipal + EV depot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7AC"/>
                </a:solidFill>
                <a:latin typeface="Aptos"/>
              </a:rPr>
              <a:t>Suvedha.M  |  RegNo: 25cs423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B97AC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E7ECF3"/>
                </a:solidFill>
                <a:latin typeface="Aptos"/>
              </a:rPr>
              <a:t>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418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7AC"/>
                </a:solidFill>
                <a:latin typeface="Aptos"/>
              </a:rPr>
              <a:t>Holt’s Linear Trend Exponential Smoothing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10972800" cy="4526280"/>
          </a:xfrm>
          <a:prstGeom prst="roundRect">
            <a:avLst/>
          </a:prstGeom>
          <a:solidFill>
            <a:srgbClr val="0F1826"/>
          </a:solidFill>
          <a:ln>
            <a:solidFill>
              <a:srgbClr val="22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58191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7ECF3"/>
                </a:solidFill>
                <a:latin typeface="Aptos"/>
              </a:rPr>
              <a:t>How the Algorithm Works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1783080"/>
            <a:ext cx="438912" cy="438912"/>
          </a:xfrm>
          <a:prstGeom prst="ellipse">
            <a:avLst/>
          </a:prstGeom>
          <a:solidFill>
            <a:srgbClr val="E08D3C"/>
          </a:solidFill>
          <a:ln>
            <a:solidFill>
              <a:srgbClr val="E08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1856231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A0F1A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773936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7ECF3"/>
                </a:solidFill>
                <a:latin typeface="Aptos"/>
              </a:rPr>
              <a:t>Input 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1773936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7AC"/>
                </a:solidFill>
                <a:latin typeface="Aptos"/>
              </a:rPr>
              <a:t>Get the current electricity load.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423160"/>
            <a:ext cx="438912" cy="438912"/>
          </a:xfrm>
          <a:prstGeom prst="ellipse">
            <a:avLst/>
          </a:prstGeom>
          <a:solidFill>
            <a:srgbClr val="E08D3C"/>
          </a:solidFill>
          <a:ln>
            <a:solidFill>
              <a:srgbClr val="E08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0976" y="249631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A0F1A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414016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7ECF3"/>
                </a:solidFill>
                <a:latin typeface="Aptos"/>
              </a:rPr>
              <a:t>Find Level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414016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7AC"/>
                </a:solidFill>
                <a:latin typeface="Aptos"/>
              </a:rPr>
              <a:t>Update the current level using the new load.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063239"/>
            <a:ext cx="438912" cy="438912"/>
          </a:xfrm>
          <a:prstGeom prst="ellipse">
            <a:avLst/>
          </a:prstGeom>
          <a:solidFill>
            <a:srgbClr val="E08D3C"/>
          </a:solidFill>
          <a:ln>
            <a:solidFill>
              <a:srgbClr val="E08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50976" y="3136391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A0F1A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054096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7ECF3"/>
                </a:solidFill>
                <a:latin typeface="Aptos"/>
              </a:rPr>
              <a:t>Find Trend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3054096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7AC"/>
                </a:solidFill>
                <a:latin typeface="Aptos"/>
              </a:rPr>
              <a:t>Update whether the load is increasing or decreasing.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" y="3703320"/>
            <a:ext cx="438912" cy="438912"/>
          </a:xfrm>
          <a:prstGeom prst="ellipse">
            <a:avLst/>
          </a:prstGeom>
          <a:solidFill>
            <a:srgbClr val="E08D3C"/>
          </a:solidFill>
          <a:ln>
            <a:solidFill>
              <a:srgbClr val="E08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0976" y="377647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A0F1A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694176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7ECF3"/>
                </a:solidFill>
                <a:latin typeface="Aptos"/>
              </a:rPr>
              <a:t>Forecast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1800" y="3694176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7AC"/>
                </a:solidFill>
                <a:latin typeface="Aptos"/>
              </a:rPr>
              <a:t>Calculate the next load using level + trend.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4343400"/>
            <a:ext cx="438912" cy="438912"/>
          </a:xfrm>
          <a:prstGeom prst="ellipse">
            <a:avLst/>
          </a:prstGeom>
          <a:solidFill>
            <a:srgbClr val="E08D3C"/>
          </a:solidFill>
          <a:ln>
            <a:solidFill>
              <a:srgbClr val="E08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50976" y="441655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A0F1A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334256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7ECF3"/>
                </a:solidFill>
                <a:latin typeface="Aptos"/>
              </a:rPr>
              <a:t>Compare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71800" y="4334256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7AC"/>
                </a:solidFill>
                <a:latin typeface="Aptos"/>
              </a:rPr>
              <a:t>Compare actual load with the forecast.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" y="4983480"/>
            <a:ext cx="438912" cy="438912"/>
          </a:xfrm>
          <a:prstGeom prst="ellipse">
            <a:avLst/>
          </a:prstGeom>
          <a:solidFill>
            <a:srgbClr val="E08D3C"/>
          </a:solidFill>
          <a:ln>
            <a:solidFill>
              <a:srgbClr val="E08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50976" y="505663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A0F1A"/>
                </a:solidFill>
                <a:latin typeface="Apto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4974336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7ECF3"/>
                </a:solidFill>
                <a:latin typeface="Aptos"/>
              </a:rPr>
              <a:t>Detect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71800" y="4974336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7AC"/>
                </a:solidFill>
                <a:latin typeface="Aptos"/>
              </a:rPr>
              <a:t>If the difference is large, mark the node as an anomaly.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1680" y="5806440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08D3C"/>
                </a:solidFill>
                <a:latin typeface="Aptos"/>
              </a:rPr>
              <a:t>Flow: Load Data → Level + Trend → Forecast → Compare → Anomaly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47395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7AC"/>
                </a:solidFill>
                <a:latin typeface="Aptos"/>
              </a:rPr>
              <a:t>Suvedha.M  |  RegNo: 25cs423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B97AC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E7ECF3"/>
                </a:solidFill>
                <a:latin typeface="Aptos"/>
              </a:rPr>
              <a:t>Advantages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418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7AC"/>
                </a:solidFill>
                <a:latin typeface="Aptos"/>
              </a:rPr>
              <a:t>Why are we using Edge AI and this algorithm?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2743200" cy="1554480"/>
          </a:xfrm>
          <a:prstGeom prst="roundRect">
            <a:avLst/>
          </a:prstGeom>
          <a:solidFill>
            <a:srgbClr val="121D2E"/>
          </a:solidFill>
          <a:ln>
            <a:solidFill>
              <a:srgbClr val="22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08D3C"/>
                </a:solidFill>
                <a:latin typeface="Aptos"/>
              </a:rPr>
              <a:t>Fast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4028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7ECF3"/>
                </a:solidFill>
                <a:latin typeface="Aptos"/>
              </a:rPr>
              <a:t>Local processing gives a quick response.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0520" y="1645920"/>
            <a:ext cx="2743200" cy="1554480"/>
          </a:xfrm>
          <a:prstGeom prst="roundRect">
            <a:avLst/>
          </a:prstGeom>
          <a:solidFill>
            <a:srgbClr val="121D2E"/>
          </a:solidFill>
          <a:ln>
            <a:solidFill>
              <a:srgbClr val="22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43400" y="18288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08D3C"/>
                </a:solidFill>
                <a:latin typeface="Aptos"/>
              </a:rPr>
              <a:t>Low Latency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224028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7ECF3"/>
                </a:solidFill>
                <a:latin typeface="Aptos"/>
              </a:rPr>
              <a:t>No need to wait for a cloud round trip.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45920"/>
            <a:ext cx="2743200" cy="1554480"/>
          </a:xfrm>
          <a:prstGeom prst="roundRect">
            <a:avLst/>
          </a:prstGeom>
          <a:solidFill>
            <a:srgbClr val="121D2E"/>
          </a:solidFill>
          <a:ln>
            <a:solidFill>
              <a:srgbClr val="22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59" y="18288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08D3C"/>
                </a:solidFill>
                <a:latin typeface="Aptos"/>
              </a:rPr>
              <a:t>Lightweight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59" y="224028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7ECF3"/>
                </a:solidFill>
                <a:latin typeface="Aptos"/>
              </a:rPr>
              <a:t>The forecasting model uses very little memory.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794760"/>
            <a:ext cx="2743200" cy="1554480"/>
          </a:xfrm>
          <a:prstGeom prst="roundRect">
            <a:avLst/>
          </a:prstGeom>
          <a:solidFill>
            <a:srgbClr val="121D2E"/>
          </a:solidFill>
          <a:ln>
            <a:solidFill>
              <a:srgbClr val="22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39776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08D3C"/>
                </a:solidFill>
                <a:latin typeface="Aptos"/>
              </a:rPr>
              <a:t>Simple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38912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7ECF3"/>
                </a:solidFill>
                <a:latin typeface="Aptos"/>
              </a:rPr>
              <a:t>Holt’s method is easy to implement and update.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0520" y="3794760"/>
            <a:ext cx="2743200" cy="1554480"/>
          </a:xfrm>
          <a:prstGeom prst="roundRect">
            <a:avLst/>
          </a:prstGeom>
          <a:solidFill>
            <a:srgbClr val="121D2E"/>
          </a:solidFill>
          <a:ln>
            <a:solidFill>
              <a:srgbClr val="22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43400" y="39776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08D3C"/>
                </a:solidFill>
                <a:latin typeface="Aptos"/>
              </a:rPr>
              <a:t>Anomaly Detection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438912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7ECF3"/>
                </a:solidFill>
                <a:latin typeface="Aptos"/>
              </a:rPr>
              <a:t>Sudden load changes can be flagged locally.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3794760"/>
            <a:ext cx="2743200" cy="1554480"/>
          </a:xfrm>
          <a:prstGeom prst="roundRect">
            <a:avLst/>
          </a:prstGeom>
          <a:solidFill>
            <a:srgbClr val="121D2E"/>
          </a:solidFill>
          <a:ln>
            <a:solidFill>
              <a:srgbClr val="22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80959" y="39776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08D3C"/>
                </a:solidFill>
                <a:latin typeface="Aptos"/>
              </a:rPr>
              <a:t>Real-time Monitoring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59" y="438912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7ECF3"/>
                </a:solidFill>
                <a:latin typeface="Aptos"/>
              </a:rPr>
              <a:t>The dashboard continuously updates the load and forecast.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7395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7AC"/>
                </a:solidFill>
                <a:latin typeface="Aptos"/>
              </a:rPr>
              <a:t>Suvedha.M  |  RegNo: 25cs423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B97AC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E7ECF3"/>
                </a:solidFill>
                <a:latin typeface="Aptos"/>
              </a:rPr>
              <a:t>Conclusion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418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7AC"/>
                </a:solidFill>
                <a:latin typeface="Aptos"/>
              </a:rPr>
              <a:t>Final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5394960" cy="4526280"/>
          </a:xfrm>
          <a:prstGeom prst="roundRect">
            <a:avLst/>
          </a:prstGeom>
          <a:solidFill>
            <a:srgbClr val="0F1826"/>
          </a:solidFill>
          <a:ln>
            <a:solidFill>
              <a:srgbClr val="22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58191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7ECF3"/>
                </a:solidFill>
                <a:latin typeface="Aptos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74519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E7ECF3"/>
                </a:solidFill>
                <a:latin typeface="Aptos"/>
              </a:defRPr>
            </a:pPr>
            <a:r>
              <a:t>• GridPulse predicts electricity load at distribution substations.</a:t>
            </a:r>
          </a:p>
          <a:p>
            <a:pPr>
              <a:spcAft>
                <a:spcPts val="1000"/>
              </a:spcAft>
              <a:defRPr sz="1500">
                <a:solidFill>
                  <a:srgbClr val="E7ECF3"/>
                </a:solidFill>
                <a:latin typeface="Aptos"/>
              </a:defRPr>
            </a:pPr>
            <a:r>
              <a:t>• It uses a lightweight Holt’s Linear Trend algorithm.</a:t>
            </a:r>
          </a:p>
          <a:p>
            <a:pPr>
              <a:spcAft>
                <a:spcPts val="1000"/>
              </a:spcAft>
              <a:defRPr sz="1500">
                <a:solidFill>
                  <a:srgbClr val="E7ECF3"/>
                </a:solidFill>
                <a:latin typeface="Aptos"/>
              </a:defRPr>
            </a:pPr>
            <a:r>
              <a:t>• It detects abnormal load changes locally.</a:t>
            </a:r>
          </a:p>
          <a:p>
            <a:pPr>
              <a:spcAft>
                <a:spcPts val="1000"/>
              </a:spcAft>
              <a:defRPr sz="1500">
                <a:solidFill>
                  <a:srgbClr val="E7ECF3"/>
                </a:solidFill>
                <a:latin typeface="Aptos"/>
              </a:defRPr>
            </a:pPr>
            <a:r>
              <a:t>• It provides a simple interactive monitoring dashboard.</a:t>
            </a:r>
          </a:p>
          <a:p>
            <a:pPr>
              <a:spcAft>
                <a:spcPts val="1000"/>
              </a:spcAft>
              <a:defRPr sz="1500">
                <a:solidFill>
                  <a:srgbClr val="E7ECF3"/>
                </a:solidFill>
                <a:latin typeface="Aptos"/>
              </a:defRPr>
            </a:pPr>
            <a:r>
              <a:t>• The prototype demonstrates the advantage of Edge AI.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349240" cy="4526280"/>
          </a:xfrm>
          <a:prstGeom prst="roundRect">
            <a:avLst/>
          </a:prstGeom>
          <a:solidFill>
            <a:srgbClr val="0F1826"/>
          </a:solidFill>
          <a:ln>
            <a:solidFill>
              <a:srgbClr val="22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58191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7ECF3"/>
                </a:solidFill>
                <a:latin typeface="Aptos"/>
              </a:rPr>
              <a:t>Future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874519"/>
            <a:ext cx="46634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E7ECF3"/>
                </a:solidFill>
                <a:latin typeface="Aptos"/>
              </a:defRPr>
            </a:pPr>
            <a:r>
              <a:t>• Connect real smart-meter or RTU data.</a:t>
            </a:r>
          </a:p>
          <a:p>
            <a:pPr>
              <a:spcAft>
                <a:spcPts val="1000"/>
              </a:spcAft>
              <a:defRPr sz="1500">
                <a:solidFill>
                  <a:srgbClr val="E7ECF3"/>
                </a:solidFill>
                <a:latin typeface="Aptos"/>
              </a:defRPr>
            </a:pPr>
            <a:r>
              <a:t>• Test the algorithm using real electricity datasets.</a:t>
            </a:r>
          </a:p>
          <a:p>
            <a:pPr>
              <a:spcAft>
                <a:spcPts val="1000"/>
              </a:spcAft>
              <a:defRPr sz="1500">
                <a:solidFill>
                  <a:srgbClr val="E7ECF3"/>
                </a:solidFill>
                <a:latin typeface="Aptos"/>
              </a:defRPr>
            </a:pPr>
            <a:r>
              <a:t>• Improve forecasting accuracy with more advanced models.</a:t>
            </a:r>
          </a:p>
          <a:p>
            <a:pPr>
              <a:spcAft>
                <a:spcPts val="1000"/>
              </a:spcAft>
              <a:defRPr sz="1500">
                <a:solidFill>
                  <a:srgbClr val="E7ECF3"/>
                </a:solidFill>
                <a:latin typeface="Aptos"/>
              </a:defRPr>
            </a:pPr>
            <a:r>
              <a:t>• Deploy the model on real low-power edge hardware.</a:t>
            </a:r>
          </a:p>
          <a:p>
            <a:pPr>
              <a:spcAft>
                <a:spcPts val="1000"/>
              </a:spcAft>
              <a:defRPr sz="1500">
                <a:solidFill>
                  <a:srgbClr val="E7ECF3"/>
                </a:solidFill>
                <a:latin typeface="Aptos"/>
              </a:defRPr>
            </a:pPr>
            <a:r>
              <a:t>• Connect anomaly alerts to real operational systems.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59893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08D3C"/>
                </a:solidFill>
                <a:latin typeface="Aptos"/>
              </a:rPr>
              <a:t>Thank 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7395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7AC"/>
                </a:solidFill>
                <a:latin typeface="Aptos"/>
              </a:rPr>
              <a:t>Suvedha.M  |  RegNo: 25cs423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B97AC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609</Words>
  <Application>Microsoft Office PowerPoint</Application>
  <PresentationFormat>Widescreen</PresentationFormat>
  <Paragraphs>112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Suvedha mathiyalagan</cp:lastModifiedBy>
  <cp:revision>2</cp:revision>
  <dcterms:created xsi:type="dcterms:W3CDTF">2013-01-27T09:14:16Z</dcterms:created>
  <dcterms:modified xsi:type="dcterms:W3CDTF">2026-09-26T03:33:00Z</dcterms:modified>
  <cp:category/>
</cp:coreProperties>
</file>